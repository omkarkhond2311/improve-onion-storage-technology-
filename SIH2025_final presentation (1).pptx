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defTabSz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defTabSz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defTabSz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defTabSz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defTabSz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defTabSz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defTabSz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defTabSz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914400" y="2130426"/>
            <a:ext cx="10363200" cy="147002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963084" y="4406903"/>
            <a:ext cx="10363201" cy="136207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963084" y="2906713"/>
            <a:ext cx="103632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93368" y="1535112"/>
            <a:ext cx="5389035" cy="63976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609601" y="273050"/>
            <a:ext cx="401108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6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7" name="Text Placeholder 3"/>
          <p:cNvSpPr>
            <a:spLocks noGrp="1"/>
          </p:cNvSpPr>
          <p:nvPr>
            <p:ph type="body" sz="half" idx="21"/>
          </p:nvPr>
        </p:nvSpPr>
        <p:spPr>
          <a:xfrm>
            <a:off x="609601" y="1435103"/>
            <a:ext cx="4011086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2389715" y="4800600"/>
            <a:ext cx="7315202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389715" y="612775"/>
            <a:ext cx="73152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389715" y="5367337"/>
            <a:ext cx="73152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25862" y="6401183"/>
            <a:ext cx="256539" cy="27546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merican Typewriter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merican Typewriter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merican Typewriter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merican Typewriter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merican Typewriter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merican Typewriter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merican Typewriter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7pPr>
      <a:lvl8pPr marL="3566159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merican Typewriter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merican Typewriter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xpl/conhome/9575128/proceeding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9575393" TargetMode="External"/><Relationship Id="rId5" Type="http://schemas.openxmlformats.org/officeDocument/2006/relationships/image" Target="../media/image2.png"/><Relationship Id="rId10" Type="http://schemas.openxmlformats.org/officeDocument/2006/relationships/hyperlink" Target="https://anrcatalog.ucanr.edu/pdf/7254.pdf" TargetMode="External"/><Relationship Id="rId4" Type="http://schemas.openxmlformats.org/officeDocument/2006/relationships/image" Target="../media/image4.jpeg"/><Relationship Id="rId9" Type="http://schemas.openxmlformats.org/officeDocument/2006/relationships/hyperlink" Target="https://doi.org/10.1109/ICOPS35962.2018.957539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4" descr="Picture 4"/>
          <p:cNvPicPr>
            <a:picLocks noChangeAspect="1"/>
          </p:cNvPicPr>
          <p:nvPr/>
        </p:nvPicPr>
        <p:blipFill>
          <a:blip r:embed="rId3">
            <a:alphaModFix amt="48041"/>
          </a:blip>
          <a:srcRect r="59916"/>
          <a:stretch>
            <a:fillRect/>
          </a:stretch>
        </p:blipFill>
        <p:spPr>
          <a:xfrm>
            <a:off x="7807590" y="2205104"/>
            <a:ext cx="3203511" cy="3426240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TextBox 9"/>
          <p:cNvSpPr txBox="1"/>
          <p:nvPr/>
        </p:nvSpPr>
        <p:spPr>
          <a:xfrm>
            <a:off x="767819" y="2049523"/>
            <a:ext cx="10656362" cy="356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endParaRPr/>
          </a:p>
          <a:p>
            <a:pPr marL="285750" indent="-285750" algn="just">
              <a:lnSpc>
                <a:spcPct val="120000"/>
              </a:lnSpc>
              <a:buSzPct val="100000"/>
              <a:buFont typeface="American Typewriter"/>
              <a:buChar char="•"/>
              <a:defRPr sz="2700" b="1" u="sng"/>
            </a:pPr>
            <a:r>
              <a:t>Problem Statement ID</a:t>
            </a:r>
            <a:r>
              <a:rPr u="none"/>
              <a:t> : </a:t>
            </a:r>
            <a:r>
              <a:rPr b="0" u="none"/>
              <a:t>SIH25053</a:t>
            </a:r>
          </a:p>
          <a:p>
            <a:pPr marL="285750" indent="-285750" algn="just">
              <a:lnSpc>
                <a:spcPct val="120000"/>
              </a:lnSpc>
              <a:buSzPct val="100000"/>
              <a:buFont typeface="American Typewriter"/>
              <a:buChar char="•"/>
              <a:defRPr sz="2700" b="1" u="sng"/>
            </a:pPr>
            <a:r>
              <a:t>Problem Statement Title</a:t>
            </a:r>
            <a:r>
              <a:rPr u="none"/>
              <a:t> : </a:t>
            </a:r>
            <a:r>
              <a:rPr b="0" u="none"/>
              <a:t>Improved Onion storage technology for enhancing shelf life of onions</a:t>
            </a:r>
          </a:p>
          <a:p>
            <a:pPr marL="285750" indent="-285750" algn="just">
              <a:lnSpc>
                <a:spcPct val="120000"/>
              </a:lnSpc>
              <a:buSzPct val="100000"/>
              <a:buFont typeface="American Typewriter"/>
              <a:buChar char="•"/>
              <a:defRPr sz="2700" b="1" u="sng"/>
            </a:pPr>
            <a:r>
              <a:t>Theme</a:t>
            </a:r>
            <a:r>
              <a:rPr u="none"/>
              <a:t> :</a:t>
            </a:r>
            <a:r>
              <a:rPr b="0" u="none"/>
              <a:t> Agriculture, FoodTech &amp; Rural Development</a:t>
            </a:r>
          </a:p>
          <a:p>
            <a:pPr marL="285750" indent="-285750" algn="just">
              <a:lnSpc>
                <a:spcPct val="120000"/>
              </a:lnSpc>
              <a:buSzPct val="100000"/>
              <a:buFont typeface="American Typewriter"/>
              <a:buChar char="•"/>
              <a:defRPr sz="2700" b="1" u="sng"/>
            </a:pPr>
            <a:r>
              <a:t>PS Category</a:t>
            </a:r>
            <a:r>
              <a:rPr u="none"/>
              <a:t> : </a:t>
            </a:r>
            <a:r>
              <a:rPr b="0" u="none"/>
              <a:t>Hardware</a:t>
            </a:r>
          </a:p>
          <a:p>
            <a:pPr marL="285750" indent="-285750" algn="just">
              <a:lnSpc>
                <a:spcPct val="120000"/>
              </a:lnSpc>
              <a:buSzPct val="100000"/>
              <a:buFont typeface="American Typewriter"/>
              <a:buChar char="•"/>
              <a:defRPr sz="2700" b="1" u="sng"/>
            </a:pPr>
            <a:r>
              <a:t>Team ID </a:t>
            </a:r>
            <a:r>
              <a:rPr u="none"/>
              <a:t>: </a:t>
            </a:r>
            <a:r>
              <a:rPr b="0" u="none"/>
              <a:t>88746</a:t>
            </a:r>
          </a:p>
          <a:p>
            <a:pPr marL="285750" indent="-285750" algn="just">
              <a:lnSpc>
                <a:spcPct val="120000"/>
              </a:lnSpc>
              <a:buSzPct val="100000"/>
              <a:buFont typeface="American Typewriter"/>
              <a:buChar char="•"/>
              <a:defRPr sz="2700" b="1" u="sng"/>
            </a:pPr>
            <a:r>
              <a:t>Team Name </a:t>
            </a:r>
            <a:r>
              <a:rPr u="none"/>
              <a:t>: </a:t>
            </a:r>
            <a:r>
              <a:rPr b="0" u="none"/>
              <a:t>BRAINWASE</a:t>
            </a:r>
          </a:p>
        </p:txBody>
      </p:sp>
      <p:sp>
        <p:nvSpPr>
          <p:cNvPr id="89" name="Freeform: Shape 26"/>
          <p:cNvSpPr/>
          <p:nvPr/>
        </p:nvSpPr>
        <p:spPr>
          <a:xfrm>
            <a:off x="6472108" y="1108995"/>
            <a:ext cx="4638606" cy="5154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8725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" name="Title 7"/>
          <p:cNvSpPr txBox="1">
            <a:spLocks noGrp="1"/>
          </p:cNvSpPr>
          <p:nvPr>
            <p:ph type="ctrTitle"/>
          </p:nvPr>
        </p:nvSpPr>
        <p:spPr>
          <a:xfrm>
            <a:off x="330651" y="447149"/>
            <a:ext cx="10174376" cy="1839469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SMART INDIA HACKATHON 2025</a:t>
            </a:r>
          </a:p>
        </p:txBody>
      </p:sp>
      <p:pic>
        <p:nvPicPr>
          <p:cNvPr id="91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601" y="6297"/>
            <a:ext cx="1987739" cy="10103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Footer Placeholder 6"/>
          <p:cNvSpPr txBox="1"/>
          <p:nvPr/>
        </p:nvSpPr>
        <p:spPr>
          <a:xfrm>
            <a:off x="4693920" y="6401183"/>
            <a:ext cx="3112562" cy="275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94" name="Rectangle 8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95" name="Title 1"/>
          <p:cNvSpPr txBox="1">
            <a:spLocks noGrp="1"/>
          </p:cNvSpPr>
          <p:nvPr>
            <p:ph type="title"/>
          </p:nvPr>
        </p:nvSpPr>
        <p:spPr>
          <a:xfrm>
            <a:off x="1396180" y="134"/>
            <a:ext cx="8424548" cy="1236794"/>
          </a:xfrm>
          <a:prstGeom prst="rect">
            <a:avLst/>
          </a:prstGeom>
        </p:spPr>
        <p:txBody>
          <a:bodyPr/>
          <a:lstStyle/>
          <a:p>
            <a:pPr defTabSz="224154">
              <a:defRPr sz="1500" b="1">
                <a:latin typeface="Helvetica Neue"/>
                <a:ea typeface="Helvetica Neue"/>
                <a:cs typeface="Helvetica Neue"/>
                <a:sym typeface="Helvetica Neue"/>
              </a:defRPr>
            </a:pPr>
            <a:br/>
            <a:r>
              <a:rPr sz="2500"/>
              <a:t>IDEA TITLE :</a:t>
            </a:r>
            <a:r>
              <a:t> </a:t>
            </a:r>
            <a:r>
              <a:rPr sz="2400">
                <a:latin typeface="+mn-lt"/>
                <a:ea typeface="+mn-ea"/>
                <a:cs typeface="+mn-cs"/>
                <a:sym typeface="Helvetica"/>
              </a:rPr>
              <a:t>Improved Onion storage technology for </a:t>
            </a:r>
            <a:endParaRPr sz="2700">
              <a:latin typeface="+mn-lt"/>
              <a:ea typeface="+mn-ea"/>
              <a:cs typeface="+mn-cs"/>
              <a:sym typeface="Helvetica"/>
            </a:endParaRPr>
          </a:p>
          <a:p>
            <a:pPr defTabSz="224154">
              <a:defRPr sz="2400" b="1">
                <a:latin typeface="+mn-lt"/>
                <a:ea typeface="+mn-ea"/>
                <a:cs typeface="+mn-cs"/>
                <a:sym typeface="Helvetica"/>
              </a:defRPr>
            </a:pPr>
            <a:r>
              <a:t>enhancing shelf life of onions</a:t>
            </a:r>
          </a:p>
        </p:txBody>
      </p:sp>
      <p:sp>
        <p:nvSpPr>
          <p:cNvPr id="96" name="TextBox 8"/>
          <p:cNvSpPr txBox="1"/>
          <p:nvPr/>
        </p:nvSpPr>
        <p:spPr>
          <a:xfrm>
            <a:off x="288292" y="3894487"/>
            <a:ext cx="11113767" cy="1692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buSzPct val="100000"/>
              <a:buFont typeface="Big Caslon Medium"/>
              <a:buChar char="❖"/>
              <a:defRPr sz="3200" u="sng"/>
            </a:pPr>
            <a:r>
              <a:rPr sz="2800" b="1" dirty="0"/>
              <a:t>Proposed Solution</a:t>
            </a:r>
            <a:endParaRPr sz="2800" dirty="0"/>
          </a:p>
          <a:p>
            <a:pPr marL="342900" indent="-342900" algn="just">
              <a:buSzPct val="100000"/>
              <a:buFont typeface="American Typewriter"/>
              <a:buChar char="•"/>
              <a:defRPr sz="2800"/>
            </a:pPr>
            <a:r>
              <a:rPr sz="2400" dirty="0"/>
              <a:t>Smart IoT storage with sensors, automation &amp; dashboard.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800"/>
            </a:pPr>
            <a:r>
              <a:rPr sz="2400" dirty="0"/>
              <a:t>Reduces spoilage, extends shelf life &amp; helps farmers.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800"/>
            </a:pPr>
            <a:r>
              <a:rPr sz="2400" dirty="0"/>
              <a:t>Low-cost, solar powered, with ethylene detection &amp; scalability.</a:t>
            </a:r>
          </a:p>
        </p:txBody>
      </p:sp>
      <p:sp>
        <p:nvSpPr>
          <p:cNvPr id="97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402059" y="6401182"/>
            <a:ext cx="180339" cy="2754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98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365" y="57096"/>
            <a:ext cx="2209122" cy="1122869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HOTO-2025-09-07-20-13-51.jpg" descr="PHOTO-2025-09-07-20-13-51.jpg"/>
          <p:cNvPicPr>
            <a:picLocks noChangeAspect="1"/>
          </p:cNvPicPr>
          <p:nvPr/>
        </p:nvPicPr>
        <p:blipFill>
          <a:blip r:embed="rId4"/>
          <a:srcRect l="27274" t="30894" r="27274" b="22397"/>
          <a:stretch>
            <a:fillRect/>
          </a:stretch>
        </p:blipFill>
        <p:spPr>
          <a:xfrm rot="21555170">
            <a:off x="366828" y="128589"/>
            <a:ext cx="953519" cy="979899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Box 1"/>
          <p:cNvSpPr txBox="1"/>
          <p:nvPr/>
        </p:nvSpPr>
        <p:spPr>
          <a:xfrm>
            <a:off x="360479" y="1381193"/>
            <a:ext cx="10650623" cy="2000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SzPct val="100000"/>
              <a:buChar char="❖"/>
              <a:defRPr sz="2800" b="1" u="sng"/>
            </a:pPr>
            <a:r>
              <a:rPr dirty="0"/>
              <a:t>Problem Statement</a:t>
            </a:r>
          </a:p>
          <a:p>
            <a:pPr marL="342900" indent="-342900">
              <a:buSzPct val="100000"/>
              <a:buFont typeface="Arial"/>
              <a:buChar char="•"/>
              <a:defRPr sz="2800"/>
            </a:pPr>
            <a:r>
              <a:rPr sz="2400" dirty="0"/>
              <a:t>A large share of onions is lost post-harvest due to inadequate storage and uncontrolled temperature.</a:t>
            </a:r>
          </a:p>
          <a:p>
            <a:pPr marL="342900" indent="-342900">
              <a:buSzPct val="100000"/>
              <a:buFont typeface="Arial"/>
              <a:buChar char="•"/>
              <a:defRPr sz="2800"/>
            </a:pPr>
            <a:r>
              <a:rPr sz="2400" dirty="0"/>
              <a:t>Losses lead to sprouting , rotting and reduced shelf life causing market price fluctuations.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 dir="u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ooter Placeholder 6"/>
          <p:cNvSpPr txBox="1"/>
          <p:nvPr/>
        </p:nvSpPr>
        <p:spPr>
          <a:xfrm>
            <a:off x="4693920" y="6401183"/>
            <a:ext cx="3112562" cy="275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03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0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TECHNICAL APPROACH</a:t>
            </a:r>
          </a:p>
        </p:txBody>
      </p:sp>
      <p:sp>
        <p:nvSpPr>
          <p:cNvPr id="105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402059" y="6401182"/>
            <a:ext cx="180339" cy="2754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3</a:t>
            </a:fld>
            <a:endParaRPr/>
          </a:p>
        </p:txBody>
      </p:sp>
      <p:pic>
        <p:nvPicPr>
          <p:cNvPr id="106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365" y="57096"/>
            <a:ext cx="2209122" cy="11228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PHOTO-2025-09-07-20-13-51.jpg" descr="PHOTO-2025-09-07-20-13-51.jpg"/>
          <p:cNvPicPr>
            <a:picLocks noChangeAspect="1"/>
          </p:cNvPicPr>
          <p:nvPr/>
        </p:nvPicPr>
        <p:blipFill>
          <a:blip r:embed="rId4"/>
          <a:srcRect l="27274" t="30894" r="27274" b="22397"/>
          <a:stretch>
            <a:fillRect/>
          </a:stretch>
        </p:blipFill>
        <p:spPr>
          <a:xfrm rot="21555170">
            <a:off x="366828" y="128589"/>
            <a:ext cx="953519" cy="97989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0" name="Rectangle: Rounded Corners 1"/>
          <p:cNvGrpSpPr/>
          <p:nvPr/>
        </p:nvGrpSpPr>
        <p:grpSpPr>
          <a:xfrm>
            <a:off x="385006" y="2060354"/>
            <a:ext cx="1848680" cy="408621"/>
            <a:chOff x="0" y="0"/>
            <a:chExt cx="1848678" cy="408620"/>
          </a:xfrm>
        </p:grpSpPr>
        <p:sp>
          <p:nvSpPr>
            <p:cNvPr id="108" name="Rounded Rectangle"/>
            <p:cNvSpPr/>
            <p:nvPr/>
          </p:nvSpPr>
          <p:spPr>
            <a:xfrm>
              <a:off x="0" y="0"/>
              <a:ext cx="1848679" cy="40862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09" name="Hardware"/>
            <p:cNvSpPr txBox="1"/>
            <p:nvPr/>
          </p:nvSpPr>
          <p:spPr>
            <a:xfrm>
              <a:off x="32647" y="28980"/>
              <a:ext cx="1783384" cy="3506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u="sng"/>
              </a:lvl1pPr>
            </a:lstStyle>
            <a:p>
              <a:r>
                <a:t>Hardware</a:t>
              </a:r>
            </a:p>
          </p:txBody>
        </p:sp>
      </p:grpSp>
      <p:grpSp>
        <p:nvGrpSpPr>
          <p:cNvPr id="113" name="Rectangle: Rounded Corners 3"/>
          <p:cNvGrpSpPr/>
          <p:nvPr/>
        </p:nvGrpSpPr>
        <p:grpSpPr>
          <a:xfrm>
            <a:off x="401954" y="1241425"/>
            <a:ext cx="3894456" cy="387350"/>
            <a:chOff x="0" y="0"/>
            <a:chExt cx="3894454" cy="387350"/>
          </a:xfrm>
        </p:grpSpPr>
        <p:sp>
          <p:nvSpPr>
            <p:cNvPr id="111" name="Rounded Rectangle"/>
            <p:cNvSpPr/>
            <p:nvPr/>
          </p:nvSpPr>
          <p:spPr>
            <a:xfrm>
              <a:off x="0" y="0"/>
              <a:ext cx="3894455" cy="38735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u="sng"/>
              </a:pPr>
              <a:endParaRPr/>
            </a:p>
          </p:txBody>
        </p:sp>
        <p:sp>
          <p:nvSpPr>
            <p:cNvPr id="112" name="Technologies to be Used"/>
            <p:cNvSpPr txBox="1"/>
            <p:nvPr/>
          </p:nvSpPr>
          <p:spPr>
            <a:xfrm>
              <a:off x="31608" y="18345"/>
              <a:ext cx="3831239" cy="3506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u="sng"/>
              </a:lvl1pPr>
            </a:lstStyle>
            <a:p>
              <a:r>
                <a:t>Technologies to be Used</a:t>
              </a:r>
            </a:p>
          </p:txBody>
        </p:sp>
      </p:grpSp>
      <p:grpSp>
        <p:nvGrpSpPr>
          <p:cNvPr id="116" name="Rectangle: Rounded Corners 4"/>
          <p:cNvGrpSpPr/>
          <p:nvPr/>
        </p:nvGrpSpPr>
        <p:grpSpPr>
          <a:xfrm>
            <a:off x="2537226" y="2065402"/>
            <a:ext cx="1759227" cy="408622"/>
            <a:chOff x="0" y="0"/>
            <a:chExt cx="1759225" cy="408620"/>
          </a:xfrm>
        </p:grpSpPr>
        <p:sp>
          <p:nvSpPr>
            <p:cNvPr id="114" name="Rounded Rectangle"/>
            <p:cNvSpPr/>
            <p:nvPr/>
          </p:nvSpPr>
          <p:spPr>
            <a:xfrm>
              <a:off x="0" y="0"/>
              <a:ext cx="1759226" cy="40862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15" name="Software"/>
            <p:cNvSpPr txBox="1"/>
            <p:nvPr/>
          </p:nvSpPr>
          <p:spPr>
            <a:xfrm>
              <a:off x="32646" y="28980"/>
              <a:ext cx="1693934" cy="3506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u="sng"/>
              </a:lvl1pPr>
            </a:lstStyle>
            <a:p>
              <a:r>
                <a:t>Software</a:t>
              </a:r>
            </a:p>
          </p:txBody>
        </p:sp>
      </p:grpSp>
      <p:grpSp>
        <p:nvGrpSpPr>
          <p:cNvPr id="119" name="Rectangle: Rounded Corners 5"/>
          <p:cNvGrpSpPr/>
          <p:nvPr/>
        </p:nvGrpSpPr>
        <p:grpSpPr>
          <a:xfrm>
            <a:off x="402357" y="3264017"/>
            <a:ext cx="1848679" cy="408621"/>
            <a:chOff x="0" y="0"/>
            <a:chExt cx="1848678" cy="408620"/>
          </a:xfrm>
        </p:grpSpPr>
        <p:sp>
          <p:nvSpPr>
            <p:cNvPr id="117" name="Rounded Rectangle"/>
            <p:cNvSpPr/>
            <p:nvPr/>
          </p:nvSpPr>
          <p:spPr>
            <a:xfrm>
              <a:off x="0" y="0"/>
              <a:ext cx="1848679" cy="40862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/>
              </a:pPr>
              <a:endParaRPr/>
            </a:p>
          </p:txBody>
        </p:sp>
        <p:sp>
          <p:nvSpPr>
            <p:cNvPr id="118" name="DHT22"/>
            <p:cNvSpPr txBox="1"/>
            <p:nvPr/>
          </p:nvSpPr>
          <p:spPr>
            <a:xfrm>
              <a:off x="32647" y="28980"/>
              <a:ext cx="1783384" cy="3506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r>
                <a:t>DHT22</a:t>
              </a:r>
            </a:p>
          </p:txBody>
        </p:sp>
      </p:grpSp>
      <p:grpSp>
        <p:nvGrpSpPr>
          <p:cNvPr id="122" name="Rectangle: Rounded Corners 6"/>
          <p:cNvGrpSpPr/>
          <p:nvPr/>
        </p:nvGrpSpPr>
        <p:grpSpPr>
          <a:xfrm>
            <a:off x="402357" y="3950960"/>
            <a:ext cx="1848679" cy="406740"/>
            <a:chOff x="0" y="0"/>
            <a:chExt cx="1848678" cy="406739"/>
          </a:xfrm>
        </p:grpSpPr>
        <p:sp>
          <p:nvSpPr>
            <p:cNvPr id="120" name="Rounded Rectangle"/>
            <p:cNvSpPr/>
            <p:nvPr/>
          </p:nvSpPr>
          <p:spPr>
            <a:xfrm>
              <a:off x="0" y="0"/>
              <a:ext cx="1848679" cy="40674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1" name="Figaro"/>
            <p:cNvSpPr txBox="1"/>
            <p:nvPr/>
          </p:nvSpPr>
          <p:spPr>
            <a:xfrm>
              <a:off x="32554" y="28040"/>
              <a:ext cx="1783570" cy="3506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r>
                <a:t>Figaro </a:t>
              </a:r>
            </a:p>
          </p:txBody>
        </p:sp>
      </p:grpSp>
      <p:grpSp>
        <p:nvGrpSpPr>
          <p:cNvPr id="125" name="Rectangle: Rounded Corners 7"/>
          <p:cNvGrpSpPr/>
          <p:nvPr/>
        </p:nvGrpSpPr>
        <p:grpSpPr>
          <a:xfrm>
            <a:off x="402357" y="4691429"/>
            <a:ext cx="1848679" cy="408621"/>
            <a:chOff x="0" y="0"/>
            <a:chExt cx="1848678" cy="408620"/>
          </a:xfrm>
        </p:grpSpPr>
        <p:sp>
          <p:nvSpPr>
            <p:cNvPr id="123" name="Rounded Rectangle"/>
            <p:cNvSpPr/>
            <p:nvPr/>
          </p:nvSpPr>
          <p:spPr>
            <a:xfrm>
              <a:off x="0" y="0"/>
              <a:ext cx="1848679" cy="40862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4" name="Exhaust fans"/>
            <p:cNvSpPr txBox="1"/>
            <p:nvPr/>
          </p:nvSpPr>
          <p:spPr>
            <a:xfrm>
              <a:off x="32647" y="28980"/>
              <a:ext cx="1783384" cy="3506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r>
                <a:t>Exhaust fans</a:t>
              </a:r>
            </a:p>
          </p:txBody>
        </p:sp>
      </p:grpSp>
      <p:grpSp>
        <p:nvGrpSpPr>
          <p:cNvPr id="128" name="Rectangle: Rounded Corners 8"/>
          <p:cNvGrpSpPr/>
          <p:nvPr/>
        </p:nvGrpSpPr>
        <p:grpSpPr>
          <a:xfrm>
            <a:off x="402357" y="5279604"/>
            <a:ext cx="1848679" cy="715088"/>
            <a:chOff x="0" y="0"/>
            <a:chExt cx="1848678" cy="715087"/>
          </a:xfrm>
        </p:grpSpPr>
        <p:sp>
          <p:nvSpPr>
            <p:cNvPr id="126" name="Rounded Rectangle"/>
            <p:cNvSpPr/>
            <p:nvPr/>
          </p:nvSpPr>
          <p:spPr>
            <a:xfrm>
              <a:off x="0" y="0"/>
              <a:ext cx="1848679" cy="71508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7" name="Solar + electricity"/>
            <p:cNvSpPr txBox="1"/>
            <p:nvPr/>
          </p:nvSpPr>
          <p:spPr>
            <a:xfrm>
              <a:off x="47608" y="48863"/>
              <a:ext cx="1753462" cy="6173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r>
                <a:t>Solar + electricity</a:t>
              </a:r>
            </a:p>
          </p:txBody>
        </p:sp>
      </p:grpSp>
      <p:grpSp>
        <p:nvGrpSpPr>
          <p:cNvPr id="131" name="Rectangle: Rounded Corners 11"/>
          <p:cNvGrpSpPr/>
          <p:nvPr/>
        </p:nvGrpSpPr>
        <p:grpSpPr>
          <a:xfrm>
            <a:off x="2537226" y="2650698"/>
            <a:ext cx="1759227" cy="715088"/>
            <a:chOff x="0" y="0"/>
            <a:chExt cx="1759225" cy="715087"/>
          </a:xfrm>
        </p:grpSpPr>
        <p:sp>
          <p:nvSpPr>
            <p:cNvPr id="129" name="Rounded Rectangle"/>
            <p:cNvSpPr/>
            <p:nvPr/>
          </p:nvSpPr>
          <p:spPr>
            <a:xfrm>
              <a:off x="0" y="0"/>
              <a:ext cx="1759226" cy="71508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30" name="C++ (Arduino IDE)"/>
            <p:cNvSpPr txBox="1"/>
            <p:nvPr/>
          </p:nvSpPr>
          <p:spPr>
            <a:xfrm>
              <a:off x="47607" y="48863"/>
              <a:ext cx="1664012" cy="6173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r>
                <a:t>C++ (Arduino IDE)</a:t>
              </a:r>
            </a:p>
          </p:txBody>
        </p:sp>
      </p:grpSp>
      <p:grpSp>
        <p:nvGrpSpPr>
          <p:cNvPr id="134" name="Rectangle: Rounded Corners 13"/>
          <p:cNvGrpSpPr/>
          <p:nvPr/>
        </p:nvGrpSpPr>
        <p:grpSpPr>
          <a:xfrm>
            <a:off x="2537226" y="3543967"/>
            <a:ext cx="1759227" cy="408621"/>
            <a:chOff x="0" y="0"/>
            <a:chExt cx="1759225" cy="408620"/>
          </a:xfrm>
        </p:grpSpPr>
        <p:sp>
          <p:nvSpPr>
            <p:cNvPr id="132" name="Rounded Rectangle"/>
            <p:cNvSpPr/>
            <p:nvPr/>
          </p:nvSpPr>
          <p:spPr>
            <a:xfrm>
              <a:off x="0" y="0"/>
              <a:ext cx="1759226" cy="40862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33" name="Python"/>
            <p:cNvSpPr txBox="1"/>
            <p:nvPr/>
          </p:nvSpPr>
          <p:spPr>
            <a:xfrm>
              <a:off x="32646" y="28980"/>
              <a:ext cx="1693934" cy="3506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r>
                <a:t>Python </a:t>
              </a:r>
            </a:p>
          </p:txBody>
        </p:sp>
      </p:grpSp>
      <p:grpSp>
        <p:nvGrpSpPr>
          <p:cNvPr id="137" name="Rectangle: Rounded Corners 14"/>
          <p:cNvGrpSpPr/>
          <p:nvPr/>
        </p:nvGrpSpPr>
        <p:grpSpPr>
          <a:xfrm>
            <a:off x="2537226" y="4131357"/>
            <a:ext cx="1759227" cy="715088"/>
            <a:chOff x="0" y="0"/>
            <a:chExt cx="1759225" cy="715087"/>
          </a:xfrm>
        </p:grpSpPr>
        <p:sp>
          <p:nvSpPr>
            <p:cNvPr id="135" name="Rounded Rectangle"/>
            <p:cNvSpPr/>
            <p:nvPr/>
          </p:nvSpPr>
          <p:spPr>
            <a:xfrm>
              <a:off x="0" y="0"/>
              <a:ext cx="1759226" cy="71508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36" name="React/Flutter (dashboard)"/>
            <p:cNvSpPr txBox="1"/>
            <p:nvPr/>
          </p:nvSpPr>
          <p:spPr>
            <a:xfrm>
              <a:off x="47607" y="48863"/>
              <a:ext cx="1664012" cy="6173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r>
                <a:t>React/Flutter (dashboard)</a:t>
              </a:r>
            </a:p>
          </p:txBody>
        </p:sp>
      </p:grpSp>
      <p:sp>
        <p:nvSpPr>
          <p:cNvPr id="138" name="Straight Arrow Connector 18"/>
          <p:cNvSpPr/>
          <p:nvPr/>
        </p:nvSpPr>
        <p:spPr>
          <a:xfrm>
            <a:off x="3416839" y="1650282"/>
            <a:ext cx="1" cy="41512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39" name="Straight Arrow Connector 21"/>
          <p:cNvSpPr/>
          <p:nvPr/>
        </p:nvSpPr>
        <p:spPr>
          <a:xfrm>
            <a:off x="1424517" y="1672146"/>
            <a:ext cx="1" cy="38675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0" name="TextBox 30"/>
          <p:cNvSpPr txBox="1"/>
          <p:nvPr/>
        </p:nvSpPr>
        <p:spPr>
          <a:xfrm>
            <a:off x="6831569" y="1237963"/>
            <a:ext cx="2993785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marL="285750" indent="-285750">
              <a:buSzPct val="100000"/>
              <a:buChar char="❖"/>
              <a:defRPr b="1" u="sng"/>
            </a:lvl1pPr>
          </a:lstStyle>
          <a:p>
            <a:r>
              <a:t>Methodology &amp; Process</a:t>
            </a:r>
          </a:p>
        </p:txBody>
      </p:sp>
      <p:pic>
        <p:nvPicPr>
          <p:cNvPr id="141" name="Picture 10" descr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8550" y="1870710"/>
            <a:ext cx="5223510" cy="398272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4" name="Rectangle: Rounded Corners 1"/>
          <p:cNvGrpSpPr/>
          <p:nvPr/>
        </p:nvGrpSpPr>
        <p:grpSpPr>
          <a:xfrm>
            <a:off x="385006" y="2635968"/>
            <a:ext cx="1848680" cy="406741"/>
            <a:chOff x="0" y="0"/>
            <a:chExt cx="1848678" cy="406739"/>
          </a:xfrm>
        </p:grpSpPr>
        <p:sp>
          <p:nvSpPr>
            <p:cNvPr id="142" name="Rounded Rectangle"/>
            <p:cNvSpPr/>
            <p:nvPr/>
          </p:nvSpPr>
          <p:spPr>
            <a:xfrm>
              <a:off x="0" y="0"/>
              <a:ext cx="1848679" cy="40674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43" name="ESP-32"/>
            <p:cNvSpPr txBox="1"/>
            <p:nvPr/>
          </p:nvSpPr>
          <p:spPr>
            <a:xfrm>
              <a:off x="32554" y="28040"/>
              <a:ext cx="1783570" cy="3506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r>
                <a:t>ESP-32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 dir="u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Footer Placeholder 6"/>
          <p:cNvSpPr txBox="1"/>
          <p:nvPr/>
        </p:nvSpPr>
        <p:spPr>
          <a:xfrm>
            <a:off x="4693920" y="6401183"/>
            <a:ext cx="3112562" cy="275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47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4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FEASIBILITY AND VIABILITY</a:t>
            </a:r>
          </a:p>
        </p:txBody>
      </p:sp>
      <p:sp>
        <p:nvSpPr>
          <p:cNvPr id="149" name="TextBox 8"/>
          <p:cNvSpPr txBox="1"/>
          <p:nvPr/>
        </p:nvSpPr>
        <p:spPr>
          <a:xfrm>
            <a:off x="469521" y="1484044"/>
            <a:ext cx="11561359" cy="4193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 algn="just">
              <a:lnSpc>
                <a:spcPct val="150000"/>
              </a:lnSpc>
              <a:buSzPct val="100000"/>
              <a:buChar char="❖"/>
              <a:defRPr sz="2300" b="1" u="sng"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sz="2800" dirty="0"/>
              <a:t>Feasibility</a:t>
            </a:r>
            <a:r>
              <a:rPr sz="2800" u="none" dirty="0"/>
              <a:t>: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300"/>
            </a:pPr>
            <a:r>
              <a:rPr dirty="0"/>
              <a:t>Radiation-based cold storage: Extends shelf life up to 7–8 months.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300"/>
            </a:pPr>
            <a:r>
              <a:rPr dirty="0"/>
              <a:t>Dehydration: Preserves onions up to 12 months.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300"/>
            </a:pPr>
            <a:r>
              <a:rPr dirty="0"/>
              <a:t>Controlled Atmosphere Storage (CAS): Delays spoilage and microbial growth.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300"/>
            </a:pPr>
            <a:r>
              <a:rPr dirty="0"/>
              <a:t>Ethylene Scrubber Units: Removes excess ethylene, preventing sprouting and reducing post-harvest losses.</a:t>
            </a:r>
          </a:p>
          <a:p>
            <a:pPr algn="just">
              <a:defRPr sz="2300"/>
            </a:pPr>
            <a:endParaRPr dirty="0"/>
          </a:p>
          <a:p>
            <a:pPr marL="342900" indent="-342900" algn="just">
              <a:lnSpc>
                <a:spcPct val="150000"/>
              </a:lnSpc>
              <a:buSzPct val="100000"/>
              <a:buChar char="❖"/>
              <a:defRPr sz="2300" b="1" u="sng"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sz="2800" dirty="0"/>
              <a:t>Viability</a:t>
            </a:r>
            <a:r>
              <a:rPr sz="2800" u="none" dirty="0"/>
              <a:t>: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300"/>
            </a:pPr>
            <a:r>
              <a:rPr dirty="0"/>
              <a:t>Reduces post-harvest losses.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300"/>
            </a:pPr>
            <a:r>
              <a:rPr dirty="0"/>
              <a:t>Extends shelf life, improving market timing</a:t>
            </a:r>
          </a:p>
        </p:txBody>
      </p:sp>
      <p:sp>
        <p:nvSpPr>
          <p:cNvPr id="150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402059" y="6401182"/>
            <a:ext cx="180339" cy="2754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4</a:t>
            </a:fld>
            <a:endParaRPr/>
          </a:p>
        </p:txBody>
      </p:sp>
      <p:pic>
        <p:nvPicPr>
          <p:cNvPr id="151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365" y="57096"/>
            <a:ext cx="2209122" cy="11228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PHOTO-2025-09-07-20-13-51.jpg" descr="PHOTO-2025-09-07-20-13-51.jpg"/>
          <p:cNvPicPr>
            <a:picLocks noChangeAspect="1"/>
          </p:cNvPicPr>
          <p:nvPr/>
        </p:nvPicPr>
        <p:blipFill>
          <a:blip r:embed="rId4"/>
          <a:srcRect l="27274" t="30894" r="27274" b="22397"/>
          <a:stretch>
            <a:fillRect/>
          </a:stretch>
        </p:blipFill>
        <p:spPr>
          <a:xfrm rot="21555170">
            <a:off x="366828" y="128589"/>
            <a:ext cx="953519" cy="979899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Freeform: Shape 26"/>
          <p:cNvSpPr/>
          <p:nvPr/>
        </p:nvSpPr>
        <p:spPr>
          <a:xfrm>
            <a:off x="6549353" y="1108995"/>
            <a:ext cx="4638607" cy="5154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8725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54" name="Picture 4" descr="Picture 4"/>
          <p:cNvPicPr>
            <a:picLocks noChangeAspect="1"/>
          </p:cNvPicPr>
          <p:nvPr/>
        </p:nvPicPr>
        <p:blipFill>
          <a:blip r:embed="rId5">
            <a:alphaModFix amt="48041"/>
          </a:blip>
          <a:srcRect r="59916"/>
          <a:stretch>
            <a:fillRect/>
          </a:stretch>
        </p:blipFill>
        <p:spPr>
          <a:xfrm>
            <a:off x="7807590" y="2205104"/>
            <a:ext cx="3203511" cy="34262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 dir="u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ooter Placeholder 6"/>
          <p:cNvSpPr txBox="1"/>
          <p:nvPr/>
        </p:nvSpPr>
        <p:spPr>
          <a:xfrm>
            <a:off x="4693920" y="6401183"/>
            <a:ext cx="3112562" cy="275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57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5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IMPACT AND BENEFITS</a:t>
            </a:r>
          </a:p>
        </p:txBody>
      </p:sp>
      <p:sp>
        <p:nvSpPr>
          <p:cNvPr id="159" name="TextBox 8"/>
          <p:cNvSpPr txBox="1"/>
          <p:nvPr/>
        </p:nvSpPr>
        <p:spPr>
          <a:xfrm>
            <a:off x="346918" y="1352725"/>
            <a:ext cx="11498164" cy="2308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 algn="just">
              <a:buSzPct val="100000"/>
              <a:buChar char="❖"/>
              <a:defRPr sz="2000" b="1" u="sng"/>
            </a:pPr>
            <a:r>
              <a:rPr sz="2400" dirty="0">
                <a:latin typeface="Arial Narrow" panose="020B0606020202030204" pitchFamily="34" charset="0"/>
              </a:rPr>
              <a:t>IMPACTS : 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000" b="1"/>
            </a:pPr>
            <a:r>
              <a:rPr dirty="0">
                <a:latin typeface="Arial Narrow" panose="020B0606020202030204" pitchFamily="34" charset="0"/>
              </a:rPr>
              <a:t>1.INCREASED FARMER PROFIT</a:t>
            </a:r>
            <a:r>
              <a:rPr b="0" dirty="0">
                <a:latin typeface="Arial Narrow" panose="020B0606020202030204" pitchFamily="34" charset="0"/>
              </a:rPr>
              <a:t> - Reduction in post-harvest onion losses.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000" b="1"/>
            </a:pPr>
            <a:r>
              <a:rPr dirty="0">
                <a:latin typeface="Arial Narrow" panose="020B0606020202030204" pitchFamily="34" charset="0"/>
              </a:rPr>
              <a:t>2.STABLE SUPPLY AND PRICE CONTROL</a:t>
            </a:r>
            <a:r>
              <a:rPr b="0" dirty="0">
                <a:latin typeface="Arial Narrow" panose="020B0606020202030204" pitchFamily="34" charset="0"/>
              </a:rPr>
              <a:t> - Extended storage enables onions to be available even during off-seasons and stabilization of onion prices in the market.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000" b="1"/>
            </a:pPr>
            <a:r>
              <a:rPr dirty="0">
                <a:latin typeface="Arial Narrow" panose="020B0606020202030204" pitchFamily="34" charset="0"/>
              </a:rPr>
              <a:t>3.SUPPORT FOR EXPORT QUALITY</a:t>
            </a:r>
            <a:r>
              <a:rPr b="0" dirty="0">
                <a:latin typeface="Arial Narrow" panose="020B0606020202030204" pitchFamily="34" charset="0"/>
              </a:rPr>
              <a:t> - Improved onion quality during storage and distribution.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000" b="1"/>
            </a:pPr>
            <a:r>
              <a:rPr dirty="0">
                <a:latin typeface="Arial Narrow" panose="020B0606020202030204" pitchFamily="34" charset="0"/>
              </a:rPr>
              <a:t>4.SOCIAL IMPACT</a:t>
            </a:r>
            <a:r>
              <a:rPr b="0" dirty="0">
                <a:latin typeface="Arial Narrow" panose="020B0606020202030204" pitchFamily="34" charset="0"/>
              </a:rPr>
              <a:t> - Boost to rural economy through </a:t>
            </a:r>
            <a:r>
              <a:rPr b="0" dirty="0" err="1">
                <a:latin typeface="Arial Narrow" panose="020B0606020202030204" pitchFamily="34" charset="0"/>
              </a:rPr>
              <a:t>agri</a:t>
            </a:r>
            <a:r>
              <a:rPr b="0" dirty="0">
                <a:latin typeface="Arial Narrow" panose="020B0606020202030204" pitchFamily="34" charset="0"/>
              </a:rPr>
              <a:t>-tech </a:t>
            </a:r>
            <a:r>
              <a:rPr b="0" dirty="0" err="1">
                <a:latin typeface="Arial Narrow" panose="020B0606020202030204" pitchFamily="34" charset="0"/>
              </a:rPr>
              <a:t>adoption.Benefits</a:t>
            </a:r>
            <a:r>
              <a:rPr b="0" dirty="0">
                <a:latin typeface="Arial Narrow" panose="020B0606020202030204" pitchFamily="34" charset="0"/>
              </a:rPr>
              <a:t> of the solution (social, economic, </a:t>
            </a:r>
            <a:r>
              <a:rPr b="0" dirty="0" err="1">
                <a:latin typeface="Arial Narrow" panose="020B0606020202030204" pitchFamily="34" charset="0"/>
              </a:rPr>
              <a:t>environmental,etc</a:t>
            </a:r>
            <a:r>
              <a:rPr b="0" dirty="0">
                <a:latin typeface="Arial Narrow" panose="020B0606020202030204" pitchFamily="34" charset="0"/>
              </a:rPr>
              <a:t>.)</a:t>
            </a:r>
          </a:p>
        </p:txBody>
      </p:sp>
      <p:sp>
        <p:nvSpPr>
          <p:cNvPr id="160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402059" y="6401182"/>
            <a:ext cx="180339" cy="2754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5</a:t>
            </a:fld>
            <a:endParaRPr/>
          </a:p>
        </p:txBody>
      </p:sp>
      <p:pic>
        <p:nvPicPr>
          <p:cNvPr id="161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365" y="57096"/>
            <a:ext cx="2209122" cy="11228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PHOTO-2025-09-07-20-13-51.jpg" descr="PHOTO-2025-09-07-20-13-51.jpg"/>
          <p:cNvPicPr>
            <a:picLocks noChangeAspect="1"/>
          </p:cNvPicPr>
          <p:nvPr/>
        </p:nvPicPr>
        <p:blipFill>
          <a:blip r:embed="rId4"/>
          <a:srcRect l="27274" t="30894" r="27274" b="22397"/>
          <a:stretch>
            <a:fillRect/>
          </a:stretch>
        </p:blipFill>
        <p:spPr>
          <a:xfrm rot="21555170">
            <a:off x="366828" y="128589"/>
            <a:ext cx="953519" cy="9798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Picture 4" descr="Picture 4"/>
          <p:cNvPicPr>
            <a:picLocks noChangeAspect="1"/>
          </p:cNvPicPr>
          <p:nvPr/>
        </p:nvPicPr>
        <p:blipFill>
          <a:blip r:embed="rId5">
            <a:alphaModFix amt="23118"/>
          </a:blip>
          <a:srcRect r="59916"/>
          <a:stretch>
            <a:fillRect/>
          </a:stretch>
        </p:blipFill>
        <p:spPr>
          <a:xfrm>
            <a:off x="7807590" y="2205104"/>
            <a:ext cx="3203511" cy="3426240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TextBox 8"/>
          <p:cNvSpPr txBox="1"/>
          <p:nvPr/>
        </p:nvSpPr>
        <p:spPr>
          <a:xfrm>
            <a:off x="346709" y="3714116"/>
            <a:ext cx="11497947" cy="2616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 algn="just">
              <a:buSzPct val="100000"/>
              <a:buChar char="❖"/>
              <a:defRPr sz="2000" b="1" u="sng"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sz="2400" dirty="0"/>
              <a:t>BENIFITS : 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000" b="1"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1.FARMER'S INCOME SECURITY -</a:t>
            </a:r>
            <a:r>
              <a:rPr b="0" dirty="0">
                <a:latin typeface="+mj-lt"/>
                <a:ea typeface="+mj-ea"/>
                <a:cs typeface="+mj-cs"/>
                <a:sym typeface="Arial"/>
              </a:rPr>
              <a:t> Farmers can earn more profit by storing and selling onions at better prices.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000" b="1"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2.AFFORDABLITY -</a:t>
            </a:r>
            <a:r>
              <a:rPr b="0" dirty="0">
                <a:latin typeface="+mj-lt"/>
                <a:ea typeface="+mj-ea"/>
                <a:cs typeface="+mj-cs"/>
                <a:sym typeface="Arial"/>
              </a:rPr>
              <a:t> Consumers also get onions at affordable prices year-round.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000" b="1"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3.IMPROVED QUALITY AND HYGIENE -</a:t>
            </a:r>
            <a:r>
              <a:rPr b="0" dirty="0">
                <a:latin typeface="+mj-lt"/>
                <a:ea typeface="+mj-ea"/>
                <a:cs typeface="+mj-cs"/>
                <a:sym typeface="Arial"/>
              </a:rPr>
              <a:t> Longer shelf life can be there for continuous supply of onions in all seasons.</a:t>
            </a:r>
          </a:p>
          <a:p>
            <a:pPr marL="342900" indent="-342900" algn="just">
              <a:buSzPct val="100000"/>
              <a:buFont typeface="American Typewriter"/>
              <a:buChar char="•"/>
              <a:defRPr sz="2000" b="1"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4.SUSTAINABLE TECHNOLOGY ADOPTION -</a:t>
            </a:r>
            <a:r>
              <a:rPr b="0" dirty="0">
                <a:latin typeface="+mj-lt"/>
                <a:ea typeface="+mj-ea"/>
                <a:cs typeface="+mj-cs"/>
                <a:sym typeface="Arial"/>
              </a:rPr>
              <a:t> Energy-efficient and sustainable storage solutions by solar/IoT.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 dir="u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Footer Placeholder 6"/>
          <p:cNvSpPr txBox="1"/>
          <p:nvPr/>
        </p:nvSpPr>
        <p:spPr>
          <a:xfrm>
            <a:off x="4693920" y="6401183"/>
            <a:ext cx="3112562" cy="275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67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68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dirty="0"/>
              <a:t>RESEARCH  AND REFERENCES</a:t>
            </a:r>
          </a:p>
        </p:txBody>
      </p:sp>
      <p:sp>
        <p:nvSpPr>
          <p:cNvPr id="169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402059" y="6401182"/>
            <a:ext cx="180339" cy="2754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6</a:t>
            </a:fld>
            <a:endParaRPr/>
          </a:p>
        </p:txBody>
      </p:sp>
      <p:pic>
        <p:nvPicPr>
          <p:cNvPr id="170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365" y="57096"/>
            <a:ext cx="2209122" cy="11228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PHOTO-2025-09-07-20-13-51.jpg" descr="PHOTO-2025-09-07-20-13-51.jpg"/>
          <p:cNvPicPr>
            <a:picLocks noChangeAspect="1"/>
          </p:cNvPicPr>
          <p:nvPr/>
        </p:nvPicPr>
        <p:blipFill>
          <a:blip r:embed="rId4"/>
          <a:srcRect l="27274" t="30894" r="27274" b="22397"/>
          <a:stretch>
            <a:fillRect/>
          </a:stretch>
        </p:blipFill>
        <p:spPr>
          <a:xfrm rot="21555170">
            <a:off x="366828" y="128589"/>
            <a:ext cx="953519" cy="9798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Picture 4" descr="Picture 4"/>
          <p:cNvPicPr>
            <a:picLocks noChangeAspect="1"/>
          </p:cNvPicPr>
          <p:nvPr/>
        </p:nvPicPr>
        <p:blipFill>
          <a:blip r:embed="rId5">
            <a:alphaModFix amt="48041"/>
          </a:blip>
          <a:srcRect r="59916"/>
          <a:stretch>
            <a:fillRect/>
          </a:stretch>
        </p:blipFill>
        <p:spPr>
          <a:xfrm>
            <a:off x="7807590" y="2205104"/>
            <a:ext cx="3203511" cy="3426240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RESEARCH:"/>
          <p:cNvSpPr txBox="1"/>
          <p:nvPr/>
        </p:nvSpPr>
        <p:spPr>
          <a:xfrm>
            <a:off x="489362" y="1097040"/>
            <a:ext cx="1956434" cy="463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2500" b="1" u="sng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RESEARCH:</a:t>
            </a:r>
          </a:p>
        </p:txBody>
      </p:sp>
      <p:sp>
        <p:nvSpPr>
          <p:cNvPr id="174" name="TextBox 2"/>
          <p:cNvSpPr txBox="1"/>
          <p:nvPr/>
        </p:nvSpPr>
        <p:spPr>
          <a:xfrm>
            <a:off x="6250201" y="1560269"/>
            <a:ext cx="7359413" cy="784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buSzPct val="100000"/>
              <a:buFont typeface="Arial"/>
              <a:buChar char="•"/>
              <a:defRPr sz="1500">
                <a:solidFill>
                  <a:srgbClr val="212529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endParaRPr lang="en-US" dirty="0"/>
          </a:p>
          <a:p>
            <a:pPr>
              <a:buSzPct val="100000"/>
              <a:buFont typeface="Arial"/>
              <a:buChar char="•"/>
              <a:defRPr sz="1500">
                <a:solidFill>
                  <a:srgbClr val="212529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r>
              <a:rPr lang="en-US" dirty="0">
                <a:hlinkClick r:id="rId6"/>
              </a:rPr>
              <a:t>https://ieeexplore.ieee.org/document/9575393</a:t>
            </a:r>
            <a:endParaRPr lang="en-US" dirty="0"/>
          </a:p>
          <a:p>
            <a:pPr>
              <a:buSzPct val="100000"/>
              <a:defRPr sz="1500">
                <a:solidFill>
                  <a:srgbClr val="212529"/>
                </a:solidFill>
                <a:latin typeface="-apple-system"/>
                <a:ea typeface="-apple-system"/>
                <a:cs typeface="-apple-system"/>
                <a:sym typeface="-apple-system"/>
              </a:defRPr>
            </a:pPr>
            <a:endParaRPr lang="en-US" dirty="0"/>
          </a:p>
        </p:txBody>
      </p:sp>
      <p:sp>
        <p:nvSpPr>
          <p:cNvPr id="175" name="TextBox 6"/>
          <p:cNvSpPr txBox="1"/>
          <p:nvPr/>
        </p:nvSpPr>
        <p:spPr>
          <a:xfrm>
            <a:off x="6250201" y="1103977"/>
            <a:ext cx="2573229" cy="449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 u="sng"/>
            </a:lvl1pPr>
          </a:lstStyle>
          <a:p>
            <a:r>
              <a:rPr dirty="0"/>
              <a:t>REFERENCES:</a:t>
            </a:r>
          </a:p>
        </p:txBody>
      </p:sp>
      <p:pic>
        <p:nvPicPr>
          <p:cNvPr id="176" name="Picture 5" descr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080" y="1758906"/>
            <a:ext cx="5642611" cy="4318635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AEA682-37B9-B342-23D5-B2283D4D2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0201" y="2158684"/>
            <a:ext cx="5868431" cy="12317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870" numCol="1" anchor="ctr" anchorCtr="0" compatLnSpc="1">
            <a:prstTxWarp prst="textNoShape">
              <a:avLst/>
            </a:prstTxWarp>
            <a:spAutoFit/>
          </a:bodyPr>
          <a:lstStyle>
            <a:lvl1pPr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Neue Regular"/>
              </a:rPr>
              <a:t>Published in: 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HelveticaNeue Regular"/>
                <a:hlinkClick r:id="rId8"/>
              </a:rPr>
              <a:t>2018 IEEE International Conference on Plasma Science (ICOPS)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Neue Regular"/>
              </a:rPr>
              <a:t>Date of Conference: 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Neue Regular"/>
              </a:rPr>
              <a:t>24-28 June 2018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Neue Regular"/>
              </a:rPr>
              <a:t>Date Added to IEEE </a:t>
            </a:r>
            <a:r>
              <a:rPr kumimoji="0" lang="en-US" altLang="en-US" sz="1300" b="1" i="1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Neue Regular"/>
              </a:rPr>
              <a:t>Xplore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Neue Regular"/>
              </a:rPr>
              <a:t>: 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Neue Regular"/>
              </a:rPr>
              <a:t>01 November 2021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Neue Regular"/>
              </a:rPr>
              <a:t>ISBN Information: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HelveticaNeue 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Neue Regular"/>
              </a:rPr>
              <a:t>ISSN Information: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Neue Regular"/>
              </a:rPr>
              <a:t>DOI: 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HelveticaNeue Regular"/>
                <a:hlinkClick r:id="rId9"/>
              </a:rPr>
              <a:t>10.1109/ICOPS35962.2018.9575393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HelveticaNeue 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Neue Regular"/>
              </a:rPr>
              <a:t>Conference Location: 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HelveticaNeue Regular"/>
              </a:rPr>
              <a:t>Denver, CO, USA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956AF-45C5-BBAB-19CE-6BCC19564A63}"/>
              </a:ext>
            </a:extLst>
          </p:cNvPr>
          <p:cNvSpPr txBox="1"/>
          <p:nvPr/>
        </p:nvSpPr>
        <p:spPr>
          <a:xfrm>
            <a:off x="6250201" y="3756752"/>
            <a:ext cx="5868431" cy="2062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Arial Narrow" panose="020B0606020202030204" pitchFamily="34" charset="0"/>
              </a:rPr>
              <a:t>Suslow</a:t>
            </a:r>
            <a:r>
              <a:rPr lang="en-US" sz="1600" b="1" dirty="0">
                <a:latin typeface="Arial Narrow" panose="020B0606020202030204" pitchFamily="34" charset="0"/>
              </a:rPr>
              <a:t>, T.V., 2000.  Post-harvest handling for organic crops.  Organic Vegetable Production in California Series. Pub. 7254. University of California Davis. Available online at: </a:t>
            </a:r>
            <a:r>
              <a:rPr lang="en-US" sz="16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Narrow" panose="020B0606020202030204" pitchFamily="34" charset="0"/>
                <a:hlinkClick r:id="rId10"/>
              </a:rPr>
              <a:t>https://anrcatalog.ucanr.edu/pdf/7254.pdf</a:t>
            </a:r>
            <a:r>
              <a:rPr lang="en-US" sz="1600" b="1" dirty="0">
                <a:latin typeface="Arial Narrow" panose="020B0606020202030204" pitchFamily="34" charset="0"/>
              </a:rPr>
              <a:t> (verified 24 Dec 2019). </a:t>
            </a:r>
            <a:r>
              <a:rPr lang="en-US" sz="1600" b="1" i="1" dirty="0">
                <a:latin typeface="Arial Narrow" panose="020B0606020202030204" pitchFamily="34" charset="0"/>
              </a:rPr>
              <a:t>Editor's note: this was written in 2000 and some of the information is no longer accurate. Check with your certifier before using any product on your organic farm.</a:t>
            </a:r>
            <a:br>
              <a:rPr lang="en-US" sz="1600" b="1" i="1" dirty="0">
                <a:latin typeface="Arial Narrow" panose="020B0606020202030204" pitchFamily="34" charset="0"/>
              </a:rPr>
            </a:br>
            <a:endParaRPr kumimoji="0" lang="en-AE" sz="1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 Narrow" panose="020B0606020202030204" pitchFamily="34" charset="0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 dir="u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American Typewriter</vt:lpstr>
      <vt:lpstr>Arial</vt:lpstr>
      <vt:lpstr>Arial Narrow</vt:lpstr>
      <vt:lpstr>Big Caslon Medium</vt:lpstr>
      <vt:lpstr>HelveticaNeue Regular</vt:lpstr>
      <vt:lpstr>Times New Roman</vt:lpstr>
      <vt:lpstr>Office Theme</vt:lpstr>
      <vt:lpstr>SMART INDIA HACKATHON 2025</vt:lpstr>
      <vt:lpstr> IDEA TITLE : Improved Onion storage technology for  enhancing shelf life of onions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om khond</cp:lastModifiedBy>
  <cp:revision>2</cp:revision>
  <dcterms:modified xsi:type="dcterms:W3CDTF">2025-09-30T06:07:55Z</dcterms:modified>
</cp:coreProperties>
</file>